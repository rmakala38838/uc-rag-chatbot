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B365D"/>
                </a:solidFill>
                <a:latin typeface="Segoe UI"/>
              </a:defRPr>
            </a:pPr>
            <a:r>
              <a:t>RAG-Powered 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102E"/>
                </a:solidFill>
                <a:latin typeface="Segoe UI"/>
              </a:defRPr>
            </a:pPr>
            <a:r>
              <a:t>University of the Cumberlands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Intelligent Q&amp;A System  |  2,092 Web Pages  |  20,520 Knowledge Chunks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Mounica Dayana  |  Eswari Ankitha Datla  |  Rajesh Makala  |  Sandeep Bagam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Ethics in Artificial Intelligence  |  University of the Cumberlands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The Challenge &amp;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2,400+ pages of information across ucumberlands.edu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Students struggle to find specific answers quickly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Repetitive questions burden staff and admissions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45720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AI chatbot with natural language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Instant answers grounded in university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•  Source citations with direct links to UC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10972800" cy="18288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102E"/>
                </a:solidFill>
                <a:latin typeface="Segoe UI"/>
              </a:defRPr>
            </a:pPr>
            <a:r>
              <a:t>2,092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Pages Scraped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102E"/>
                </a:solidFill>
                <a:latin typeface="Segoe UI"/>
              </a:defRPr>
            </a:pPr>
            <a:r>
              <a:t>20,520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Vector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102E"/>
                </a:solidFill>
                <a:latin typeface="Segoe UI"/>
              </a:defRPr>
            </a:pPr>
            <a:r>
              <a:t>768-dim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102E"/>
                </a:solidFill>
                <a:latin typeface="Segoe UI"/>
              </a:defRPr>
            </a:pPr>
            <a:r>
              <a:t>&lt; 3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Response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Segoe UI"/>
              </a:defRPr>
            </a:pPr>
            <a:r>
              <a:t>DATA 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Segoe UI"/>
              </a:defRPr>
            </a:pPr>
            <a:r>
              <a:t>Web Scraper</a:t>
            </a:r>
            <a:br/>
            <a:br/>
            <a:r>
              <a:t>2,092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Segoe UI"/>
              </a:defRPr>
            </a:pPr>
            <a:r>
              <a:t>Markdown</a:t>
            </a:r>
            <a:br/>
            <a:r>
              <a:t>Converter</a:t>
            </a:r>
            <a:br/>
            <a:br/>
            <a:r>
              <a:t>JSON → 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Segoe UI"/>
              </a:defRPr>
            </a:pPr>
            <a:r>
              <a:t>Section-Aware</a:t>
            </a:r>
            <a:br/>
            <a:r>
              <a:t>Chunking</a:t>
            </a:r>
            <a:br/>
            <a:br/>
            <a:r>
              <a:t>50–1500 chars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Segoe UI"/>
              </a:defRPr>
            </a:pPr>
            <a:r>
              <a:t>Local</a:t>
            </a:r>
            <a:br/>
            <a:r>
              <a:t>Embeddings</a:t>
            </a:r>
            <a:br/>
            <a:br/>
            <a:r>
              <a:t>BGE-base 768d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41732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Segoe UI"/>
              </a:defRPr>
            </a:pPr>
            <a:r>
              <a:t>ChromaDB</a:t>
            </a:r>
            <a:br/>
            <a:r>
              <a:t>Vector Store</a:t>
            </a:r>
            <a:br/>
            <a:br/>
            <a:r>
              <a:t>20,520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1920240"/>
            <a:ext cx="2286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1920240"/>
            <a:ext cx="2286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1920240"/>
            <a:ext cx="2286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1920240"/>
            <a:ext cx="228600" cy="0"/>
          </a:xfrm>
          <a:prstGeom prst="line">
            <a:avLst/>
          </a:prstGeom>
          <a:ln w="1905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Segoe UI"/>
              </a:defRPr>
            </a:pPr>
            <a:r>
              <a:t>QUERY &amp; RESPONSE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User</a:t>
            </a:r>
            <a:br/>
            <a:r>
              <a:t>Question</a:t>
            </a:r>
            <a:br/>
            <a:br/>
            <a:r>
              <a:t>Chat Widget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20040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Query</a:t>
            </a:r>
            <a:br/>
            <a:r>
              <a:t>Expansion</a:t>
            </a:r>
            <a:br/>
            <a:br/>
            <a:r>
              <a:t>Context-aware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20040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Semantic</a:t>
            </a:r>
            <a:br/>
            <a:r>
              <a:t>Search</a:t>
            </a:r>
            <a:br/>
            <a:br/>
            <a:r>
              <a:t>Top-15 → Top-10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20040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AWS Bedrock</a:t>
            </a:r>
            <a:br/>
            <a:r>
              <a:t>Claude Sonnet</a:t>
            </a:r>
            <a:br/>
            <a:br/>
            <a:r>
              <a:t>LLM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200400"/>
            <a:ext cx="20116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Formatted</a:t>
            </a:r>
            <a:br/>
            <a:r>
              <a:t>Response</a:t>
            </a:r>
            <a:br/>
            <a:br/>
            <a:r>
              <a:t>Links + Cite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3703320"/>
            <a:ext cx="22860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3703320"/>
            <a:ext cx="22860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60920" y="3703320"/>
            <a:ext cx="22860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0" y="3703320"/>
            <a:ext cx="22860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09360" y="2423160"/>
            <a:ext cx="0" cy="777240"/>
          </a:xfrm>
          <a:prstGeom prst="line">
            <a:avLst/>
          </a:prstGeom>
          <a:ln w="19050">
            <a:solidFill>
              <a:srgbClr val="33333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Python 3.11  •  FastAPI  •  sentence-transformers  •  ChromaDB (HNSW)  •  AWS Bedrock  •  HTML/CSS/JS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47472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FastAPI + Uvicorn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ChromaDB (cosine HNSW)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AWS Bedrock Claude Sonnet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sentence-transformers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BAAI/bge-base-en-v1.5 (768d)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88720"/>
            <a:ext cx="3474720" cy="45720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Sitemap + link crawling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JSON → Markdown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Section-aware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Local GPU embeddings (MPS)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4 min full ingestion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188720"/>
            <a:ext cx="3474720" cy="4572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28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UC-branded responsive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40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Floating chat widget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Real-time typing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632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Clickable source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74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Context-aware follow-ups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10972800" cy="5029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Segoe UI"/>
              </a:defRPr>
            </a:pPr>
            <a:r>
              <a:t>Key Decision: Local embeddings (4 min) vs API-based (50 min) — 12x faster ingestion with same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18872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07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SCRAPE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0700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Sitemap + link crawl → 2,</a:t>
            </a:r>
            <a:r>
              <a:rPr lang="en-US" dirty="0"/>
              <a:t>65</a:t>
            </a:r>
            <a:r>
              <a:rPr dirty="0"/>
              <a:t>2 structured JSON pages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84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84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JSON → clean Markdown with YAML front matter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61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61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Split by headings, sentence-boundary aware (50–1500 chars)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20439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387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387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BAAI/bge-base-en-v1.5, 768 dims, Apple Silicon MPS GPU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15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65D"/>
                </a:solidFill>
                <a:latin typeface="Segoe UI"/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315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ChromaDB cosine HNSW index, persistent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188720"/>
            <a:ext cx="3931920" cy="4114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CHUNKING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7373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Split at markdown headings (##, ###)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1031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Context prefix: page title + section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4688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Sentence-boundary aware splits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834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Min 50 / Max 1500 characters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004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~10 chunks per page average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Retrieval &amp; Grounding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029200" cy="4114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RETRIEVAL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Query expansion resolves pronouns &amp; follow-ups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Same BGE model for indexing and querying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237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Top-15 retrieved via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Top-10 chunks passed as LLM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Relevance threshold: 0.3 minimum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Chat history (last 3 turns) maintained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41148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GROUNDING &amp; REFUSAL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Answers ONLY from retrieved university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No hallucinated or external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23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Every factual claim cited with source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169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Low-confidence queries trigger refusal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Refusal template with contact info &amp;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Out-of-domain questions detected and refused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0972800" cy="548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Segoe UI"/>
              </a:defRPr>
            </a:pPr>
            <a:r>
              <a:t>Query Expansion Example:  "tell me more"  →  "PhD in AI — tell me more"  (prepends topic from chat history)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UI/UX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029200" cy="41148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UC official colors: Crimson #C8102E + Navy #1B365D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White header with red accent border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237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Red hero banner with white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Merriweather headings + Open Sans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Card-based topic browsing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4114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CHAT WIDGET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Floating button (bottom-right, 68px)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30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480px panel with navy 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Typing indicator (3-dot animation)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169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Navy user bubbles / white bot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Segoe UI"/>
              </a:defRPr>
            </a:pPr>
            <a:r>
              <a:t>•  Clickable red links for citations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1097280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Segoe UI"/>
              </a:defRPr>
            </a:pPr>
            <a:r>
              <a:t>Response Rules: Professional tone  •  No emojis  •  2-4 paragraphs  •  Clickable URLs  •  Never says 'based on context'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Evaluation Results — 50 Golden Questions (Two Methods)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486400" cy="36576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METHOD 1: KEYWORD-BASED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P@5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R@10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73.6%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Faithful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Refusal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Automated keyword matching against expected terms per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51560"/>
            <a:ext cx="5486400" cy="36576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METHOD 2: LLM-AS-JUDGE (Claude Opus)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Overall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87.2%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Relevance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82.8%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Faithful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76.4%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15087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Segoe UI"/>
              </a:defRPr>
            </a:pPr>
            <a:r>
              <a:t>84.0%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19202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Claude Opus evaluates each response vs ground-truth on 5 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60320"/>
            <a:ext cx="11247120" cy="18288"/>
          </a:xfrm>
          <a:prstGeom prst="rect">
            <a:avLst/>
          </a:prstGeom>
          <a:solidFill>
            <a:srgbClr val="E2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Segoe UI"/>
              </a:defRPr>
            </a:pPr>
            <a:r>
              <a:t>LLM-AS-JUDGE PER-CATEGORY (Claude Opus Evaluator)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Correct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Faithful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Relevant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108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65D"/>
                </a:solidFill>
                <a:latin typeface="Segoe UI"/>
              </a:defRPr>
            </a:pPr>
            <a:r>
              <a:t>Citation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10712"/>
            <a:ext cx="1271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/>
              <a:t>Admissions (10)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34107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34107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34107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34107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4107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Academics (10)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71246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199" y="4014215"/>
            <a:ext cx="12712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Tuition &amp; Aid (8)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401421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401421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01421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01421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98%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01421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Student Life (7)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592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91%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159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General (10)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336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617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919472"/>
            <a:ext cx="1271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rPr dirty="0" err="1"/>
              <a:t>OutofDomain</a:t>
            </a:r>
            <a:r>
              <a:rPr dirty="0"/>
              <a:t> (5)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5920" y="49194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34640" y="49194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9194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49194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49194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Segoe UI"/>
              </a:defRPr>
            </a:pPr>
            <a:r>
              <a:t>PERFORMANCE &amp; METHOD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Source retrieval rate: 68.9%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0" y="34107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Avg similarity: 0.7109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371246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Avg retrieval: 0.079 sec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401421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Avg generation: 3.7 sec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43159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50/50 tests, 0 errors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0" y="4617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Ground-truth from UC docs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72400" y="49194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Segoe UI"/>
              </a:defRPr>
            </a:pPr>
            <a:r>
              <a:t>•  Judge: Claude Opus via Bedrock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Segoe UI"/>
              </a:defRPr>
            </a:pPr>
            <a:r>
              <a:t>Ethics, Safety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474720" cy="384048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CRAWL ETIQUETTE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100ms delay between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Respects robots.txt directives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Only public pages (no login-gated)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Identified bot User-Agent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Data for academic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97280"/>
            <a:ext cx="3474720" cy="38404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PII / PHI EXCLUSION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No student personal data collected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Faculty info is publicly 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No login-protected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User queries not stored or logged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No health information (PHI) accessed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097280"/>
            <a:ext cx="3474720" cy="384048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SAFETY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Only answers from retrieved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Relevance threshold for refusal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No hallucinated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Source URLs cited in every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•  100% faithfulness in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Segoe UI"/>
              </a:defRPr>
            </a:pPr>
            <a:r>
              <a:t>ETHICAL RISKS &amp; MITIGATIONS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65D"/>
                </a:solidFill>
                <a:latin typeface="Segoe UI"/>
              </a:defRPr>
            </a:pPr>
            <a: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657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65D"/>
                </a:solidFill>
                <a:latin typeface="Segoe UI"/>
              </a:defRPr>
            </a:pPr>
            <a:r>
              <a:t>Mitigation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Outdated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31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Timestamps; disclaimers; scheduled re-scraping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Incorrect academic advice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062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Refusal on low confidence; links to official pages; no guarantees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Over-reliance on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4805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Footer disclaimer: 'For official inquiries, contact UC directly'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48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Bias in embeddings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7548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Open-source BGE model; tested across 7 categories for fairness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29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Privacy of user queries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029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Segoe UI"/>
              </a:defRPr>
            </a:pPr>
            <a:r>
              <a:t>No query logging; session-only history; no PII stored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B365D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102E"/>
                </a:solidFill>
                <a:latin typeface="Segoe UI"/>
              </a:defRPr>
            </a:pPr>
            <a:r>
              <a:t>Questions &amp;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36576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Demo: localhost:8080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GitHub: github.com/rmakala38838/uc-rag-chatbot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Segoe UI"/>
              </a:defRPr>
            </a:pPr>
            <a:r>
              <a:t>Mounica Dayana  |  Eswari Ankitha Datla  |  Rajesh Makala  |  Sandeep Bagam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Ethics in Artificial Intelligence  |  University of the Cumberlands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1069</Words>
  <Application>Microsoft Macintosh PowerPoint</Application>
  <PresentationFormat>Widescreen</PresentationFormat>
  <Paragraphs>222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Makala</cp:lastModifiedBy>
  <cp:revision>2</cp:revision>
  <dcterms:created xsi:type="dcterms:W3CDTF">2013-01-27T09:14:16Z</dcterms:created>
  <dcterms:modified xsi:type="dcterms:W3CDTF">2026-07-25T19:34:45Z</dcterms:modified>
  <cp:category/>
</cp:coreProperties>
</file>