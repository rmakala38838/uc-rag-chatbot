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B365D"/>
                </a:solidFill>
                <a:latin typeface="Segoe UI"/>
              </a:defRPr>
            </a:pPr>
            <a:r>
              <a:t>RAG-Powered AI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C8102E"/>
                </a:solidFill>
                <a:latin typeface="Segoe UI"/>
              </a:defRPr>
            </a:pPr>
            <a:r>
              <a:t>University of the Cumberlands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6576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C757D"/>
                </a:solidFill>
                <a:latin typeface="Segoe UI"/>
              </a:defRPr>
            </a:pPr>
            <a:r>
              <a:t>Intelligent Q&amp;A System  |  2,092 Web Pages  |  20,520 Knowledge Chunks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4572000"/>
            <a:ext cx="274320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846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C757D"/>
                </a:solidFill>
                <a:latin typeface="Segoe UI"/>
              </a:defRPr>
            </a:pPr>
            <a:r>
              <a:t>MSIT Program  |  Enterprise RAG Architecture  |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392"/>
            <a:ext cx="12191695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91440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400" b="1">
                <a:solidFill>
                  <a:srgbClr val="1B365D"/>
                </a:solidFill>
                <a:latin typeface="Segoe UI"/>
              </a:defRPr>
            </a:pPr>
            <a:r>
              <a:t>The Challenge &amp; Our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5303520" cy="50292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Segoe UI"/>
              </a:defRPr>
            </a:pPr>
            <a:r>
              <a:t>•  2,400+ pages of information spread across ucumberlands.edu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Segoe UI"/>
              </a:defRPr>
            </a:pPr>
            <a:r>
              <a:t>•  Students struggle to find specific answers quickly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Segoe UI"/>
              </a:defRPr>
            </a:pPr>
            <a:r>
              <a:t>•  Repetitive questions burden staff and admissions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188720"/>
            <a:ext cx="5303520" cy="502920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Segoe UI"/>
              </a:defRPr>
            </a:pPr>
            <a:r>
              <a:t>•  AI chatbot with natural language understanding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Segoe UI"/>
              </a:defRPr>
            </a:pPr>
            <a:r>
              <a:t>•  Instant answers grounded in university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Segoe UI"/>
              </a:defRPr>
            </a:pPr>
            <a:r>
              <a:t>•  Source citations with direct links to UC pages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40480"/>
            <a:ext cx="10972800" cy="18288"/>
          </a:xfrm>
          <a:prstGeom prst="rect">
            <a:avLst/>
          </a:prstGeom>
          <a:solidFill>
            <a:srgbClr val="E2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8102E"/>
                </a:solidFill>
                <a:latin typeface="Segoe UI"/>
              </a:defRPr>
            </a:pPr>
            <a:r>
              <a:t>2,092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Segoe UI"/>
              </a:defRPr>
            </a:pPr>
            <a:r>
              <a:t>Pages Scraped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1148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8102E"/>
                </a:solidFill>
                <a:latin typeface="Segoe UI"/>
              </a:defRPr>
            </a:pPr>
            <a:r>
              <a:t>20,520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Segoe UI"/>
              </a:defRPr>
            </a:pPr>
            <a:r>
              <a:t>Vector Chunks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1148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8102E"/>
                </a:solidFill>
                <a:latin typeface="Segoe UI"/>
              </a:defRPr>
            </a:pPr>
            <a:r>
              <a:t>768-dim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Segoe UI"/>
              </a:defRPr>
            </a:pPr>
            <a:r>
              <a:t>Embeddings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41148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8102E"/>
                </a:solidFill>
                <a:latin typeface="Segoe UI"/>
              </a:defRPr>
            </a:pPr>
            <a:r>
              <a:t>&lt; 3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Segoe UI"/>
              </a:defRPr>
            </a:pPr>
            <a:r>
              <a:t>Response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392"/>
            <a:ext cx="12191695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91440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400" b="1">
                <a:solidFill>
                  <a:srgbClr val="1B365D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8102E"/>
                </a:solidFill>
                <a:latin typeface="Segoe UI"/>
              </a:defRPr>
            </a:pPr>
            <a:r>
              <a:t>DATA INGESTION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2011680" cy="1051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365D"/>
                </a:solidFill>
                <a:latin typeface="Segoe UI"/>
              </a:defRPr>
            </a:pPr>
            <a:r>
              <a:t>Web Scraper</a:t>
            </a:r>
            <a:br/>
            <a:br/>
            <a:r>
              <a:t>2,092 pages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463040"/>
            <a:ext cx="2011680" cy="1051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365D"/>
                </a:solidFill>
                <a:latin typeface="Segoe UI"/>
              </a:defRPr>
            </a:pPr>
            <a:r>
              <a:t>Markdown</a:t>
            </a:r>
            <a:br/>
            <a:r>
              <a:t>Converter</a:t>
            </a:r>
            <a:br/>
            <a:br/>
            <a:r>
              <a:t>JSON → 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463040"/>
            <a:ext cx="2011680" cy="1051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365D"/>
                </a:solidFill>
                <a:latin typeface="Segoe UI"/>
              </a:defRPr>
            </a:pPr>
            <a:r>
              <a:t>Section-Aware</a:t>
            </a:r>
            <a:br/>
            <a:r>
              <a:t>Chunking</a:t>
            </a:r>
            <a:br/>
            <a:br/>
            <a:r>
              <a:t>50–1500 chars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463040"/>
            <a:ext cx="2011680" cy="1051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365D"/>
                </a:solidFill>
                <a:latin typeface="Segoe UI"/>
              </a:defRPr>
            </a:pPr>
            <a:r>
              <a:t>Local</a:t>
            </a:r>
            <a:br/>
            <a:r>
              <a:t>Embeddings</a:t>
            </a:r>
            <a:br/>
            <a:br/>
            <a:r>
              <a:t>BGE-base 768d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66960" y="1463040"/>
            <a:ext cx="2011680" cy="1051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B365D"/>
                </a:solidFill>
                <a:latin typeface="Segoe UI"/>
              </a:defRPr>
            </a:pPr>
            <a:r>
              <a:t>ChromaDB</a:t>
            </a:r>
            <a:br/>
            <a:r>
              <a:t>Vector Store</a:t>
            </a:r>
            <a:br/>
            <a:br/>
            <a:r>
              <a:t>20,520 chunks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97480" y="1988820"/>
            <a:ext cx="228600" cy="0"/>
          </a:xfrm>
          <a:prstGeom prst="line">
            <a:avLst/>
          </a:prstGeom>
          <a:ln w="190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1988820"/>
            <a:ext cx="228600" cy="0"/>
          </a:xfrm>
          <a:prstGeom prst="line">
            <a:avLst/>
          </a:prstGeom>
          <a:ln w="190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360920" y="1988820"/>
            <a:ext cx="228600" cy="0"/>
          </a:xfrm>
          <a:prstGeom prst="line">
            <a:avLst/>
          </a:prstGeom>
          <a:ln w="190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692640" y="1988820"/>
            <a:ext cx="228600" cy="0"/>
          </a:xfrm>
          <a:prstGeom prst="line">
            <a:avLst/>
          </a:prstGeom>
          <a:ln w="19050">
            <a:solidFill>
              <a:srgbClr val="1B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2926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8102E"/>
                </a:solidFill>
                <a:latin typeface="Segoe UI"/>
              </a:defRPr>
            </a:pPr>
            <a:r>
              <a:t>QUERY &amp; RESPONSE PIPELINE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91840"/>
            <a:ext cx="2011680" cy="1051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3748"/>
                </a:solidFill>
                <a:latin typeface="Segoe UI"/>
              </a:defRPr>
            </a:pPr>
            <a:r>
              <a:t>User</a:t>
            </a:r>
            <a:br/>
            <a:r>
              <a:t>Question</a:t>
            </a:r>
            <a:br/>
            <a:br/>
            <a:r>
              <a:t>Chat Widget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71800" y="3291840"/>
            <a:ext cx="2011680" cy="1051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3748"/>
                </a:solidFill>
                <a:latin typeface="Segoe UI"/>
              </a:defRPr>
            </a:pPr>
            <a:r>
              <a:t>Query</a:t>
            </a:r>
            <a:br/>
            <a:r>
              <a:t>Expansion</a:t>
            </a:r>
            <a:br/>
            <a:br/>
            <a:r>
              <a:t>Context-aware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3291840"/>
            <a:ext cx="2011680" cy="1051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3748"/>
                </a:solidFill>
                <a:latin typeface="Segoe UI"/>
              </a:defRPr>
            </a:pPr>
            <a:r>
              <a:t>Semantic</a:t>
            </a:r>
            <a:br/>
            <a:r>
              <a:t>Search</a:t>
            </a:r>
            <a:br/>
            <a:br/>
            <a:r>
              <a:t>Top-15 → Top-10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3291840"/>
            <a:ext cx="2011680" cy="1051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3748"/>
                </a:solidFill>
                <a:latin typeface="Segoe UI"/>
              </a:defRPr>
            </a:pPr>
            <a:r>
              <a:t>AWS Bedrock</a:t>
            </a:r>
            <a:br/>
            <a:r>
              <a:t>Claude Sonnet</a:t>
            </a:r>
            <a:br/>
            <a:br/>
            <a:r>
              <a:t>LLM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3291840"/>
            <a:ext cx="2011680" cy="105156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2D3748"/>
                </a:solidFill>
                <a:latin typeface="Segoe UI"/>
              </a:defRPr>
            </a:pPr>
            <a:r>
              <a:t>Formatted</a:t>
            </a:r>
            <a:br/>
            <a:r>
              <a:t>Response</a:t>
            </a:r>
            <a:br/>
            <a:br/>
            <a:r>
              <a:t>Links + Cite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7480" y="3817620"/>
            <a:ext cx="228600" cy="0"/>
          </a:xfrm>
          <a:prstGeom prst="line">
            <a:avLst/>
          </a:prstGeom>
          <a:ln w="19050">
            <a:solidFill>
              <a:srgbClr val="C81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29200" y="3817620"/>
            <a:ext cx="228600" cy="0"/>
          </a:xfrm>
          <a:prstGeom prst="line">
            <a:avLst/>
          </a:prstGeom>
          <a:ln w="19050">
            <a:solidFill>
              <a:srgbClr val="C81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60920" y="3817620"/>
            <a:ext cx="228600" cy="0"/>
          </a:xfrm>
          <a:prstGeom prst="line">
            <a:avLst/>
          </a:prstGeom>
          <a:ln w="19050">
            <a:solidFill>
              <a:srgbClr val="C81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692640" y="3817620"/>
            <a:ext cx="228600" cy="0"/>
          </a:xfrm>
          <a:prstGeom prst="line">
            <a:avLst/>
          </a:prstGeom>
          <a:ln w="19050">
            <a:solidFill>
              <a:srgbClr val="C81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309360" y="2514600"/>
            <a:ext cx="0" cy="777240"/>
          </a:xfrm>
          <a:prstGeom prst="line">
            <a:avLst/>
          </a:prstGeom>
          <a:ln w="19050">
            <a:solidFill>
              <a:srgbClr val="6C757D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Segoe UI"/>
              </a:defRPr>
            </a:pPr>
            <a:r>
              <a:t>Python  •  FastAPI  •  sentence-transformers  •  ChromaDB (HNSW)  •  AWS Bedrock  •  HTML/CSS/JS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392"/>
            <a:ext cx="12191695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91440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400" b="1">
                <a:solidFill>
                  <a:srgbClr val="1B365D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3474720" cy="45720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FastAPI + Uvicorn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6771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ChromaDB (cosine HNSW)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6624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AWS Bedrock Claude Sonnet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455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sentence-transformers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844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BAAI/bge-base-en-v1.5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188720"/>
            <a:ext cx="3474720" cy="457200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Data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8288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Sitemap + link crawling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6771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JSON → Markdown converter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06624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Section-aware chunking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1455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Local GPU embeddings (MPS)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5844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4 min full ingestion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188720"/>
            <a:ext cx="3474720" cy="45720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8288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UC-branded responsive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26771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Floating chat widget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706624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Real-time typing indicators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14553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Clickable source links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5844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Context-aware follow-ups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389120"/>
            <a:ext cx="10972800" cy="54864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E2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1B365D"/>
                </a:solidFill>
                <a:latin typeface="Segoe UI"/>
              </a:defRPr>
            </a:pPr>
            <a:r>
              <a:t>Key Decision: Local embeddings (4 min) vs API-based (50 min) — 12x faster with same quality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392"/>
            <a:ext cx="12191695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91440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400" b="1">
                <a:solidFill>
                  <a:srgbClr val="1B365D"/>
                </a:solidFill>
                <a:latin typeface="Segoe UI"/>
              </a:defRPr>
            </a:pPr>
            <a:r>
              <a:t>RAG Retrieval &amp; Grounding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188720"/>
            <a:ext cx="384048" cy="384048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0700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65D"/>
                </a:solidFill>
                <a:latin typeface="Segoe UI"/>
              </a:defRPr>
            </a:pPr>
            <a:r>
              <a:t>SCRAPE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2070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Segoe UI"/>
              </a:defRPr>
            </a:pPr>
            <a:r>
              <a:t>Sitemap + crawl → 2,092 JSON pages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993392"/>
            <a:ext cx="384048" cy="384048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011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65D"/>
                </a:solidFill>
                <a:latin typeface="Segoe UI"/>
              </a:defRPr>
            </a:pPr>
            <a:r>
              <a:t>CONVERT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0116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Segoe UI"/>
              </a:defRPr>
            </a:pPr>
            <a:r>
              <a:t>JSON → Markdown with YAML metadata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798064"/>
            <a:ext cx="384048" cy="384048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8163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65D"/>
                </a:solidFill>
                <a:latin typeface="Segoe UI"/>
              </a:defRPr>
            </a:pPr>
            <a:r>
              <a:t>CHUNK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8163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Segoe UI"/>
              </a:defRPr>
            </a:pPr>
            <a:r>
              <a:t>Heading-based splits, 50–1500 chars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602736"/>
            <a:ext cx="384048" cy="384048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62102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65D"/>
                </a:solidFill>
                <a:latin typeface="Segoe UI"/>
              </a:defRPr>
            </a:pPr>
            <a:r>
              <a:t>EMBED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362102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Segoe UI"/>
              </a:defRPr>
            </a:pPr>
            <a:r>
              <a:t>BGE-base local, 768d, MPS GPU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407408"/>
            <a:ext cx="384048" cy="384048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42569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65D"/>
                </a:solidFill>
                <a:latin typeface="Segoe UI"/>
              </a:defRPr>
            </a:pPr>
            <a:r>
              <a:t>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42569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Segoe UI"/>
              </a:defRPr>
            </a:pPr>
            <a:r>
              <a:t>ChromaDB, cosine HNSW index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188720"/>
            <a:ext cx="4937760" cy="45720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RETRIEVAL 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18288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Segoe UI"/>
              </a:defRPr>
            </a:pPr>
            <a:r>
              <a:t>•  Query expansion for pronouns &amp; follow-ups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26771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Segoe UI"/>
              </a:defRPr>
            </a:pPr>
            <a:r>
              <a:t>•  Same model for indexing and querying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706624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Segoe UI"/>
              </a:defRPr>
            </a:pPr>
            <a:r>
              <a:t>•  Top-15 retrieved, top-10 to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145536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Segoe UI"/>
              </a:defRPr>
            </a:pPr>
            <a:r>
              <a:t>•  Relevance threshold: 0.3 minimum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58444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Segoe UI"/>
              </a:defRPr>
            </a:pPr>
            <a:r>
              <a:t>•  Chat history (3 turns) for context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0233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Segoe UI"/>
              </a:defRPr>
            </a:pPr>
            <a:r>
              <a:t>•  Grounded: only answers from retrieved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50392"/>
            <a:ext cx="12191695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91440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400" b="1">
                <a:solidFill>
                  <a:srgbClr val="1B365D"/>
                </a:solidFill>
                <a:latin typeface="Segoe UI"/>
              </a:defRPr>
            </a:pPr>
            <a:r>
              <a:t>Demo &amp;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5029200" cy="457200"/>
          </a:xfrm>
          <a:prstGeom prst="round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USER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White header + red accent (matching UC website)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Red hero section with call-to-action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Topic cards for quick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Floating chat widget (480px panel)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Professional tone, clickable source links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303520" cy="457200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PROJECT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End-to-end RAG: scrape → embed →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4028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Local + cloud AI (embeddings + LLM)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Sub-3-second response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6324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Extensible: streaming, analytics, Docker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Segoe UI"/>
              </a:defRPr>
            </a:pPr>
            <a:r>
              <a:t>•  Production-ready architecture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972800" cy="18288"/>
          </a:xfrm>
          <a:prstGeom prst="rect">
            <a:avLst/>
          </a:prstGeom>
          <a:solidFill>
            <a:srgbClr val="E2E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365D"/>
                </a:solidFill>
                <a:latin typeface="Segoe UI"/>
              </a:defRPr>
            </a:pPr>
            <a:r>
              <a:t>GitHub: github.com/rmakala38838/uc-rag-chatbot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8102E"/>
                </a:solidFill>
                <a:latin typeface="Segoe UI"/>
              </a:defRPr>
            </a:pPr>
            <a:r>
              <a:t>Thank You  —  Questions &amp;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